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3DBDB5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ACE1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878D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4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
(R² × 100)</c:v>
                </c:pt>
                <c:pt idx="1">
                  <c:v>Decision Tree</c:v>
                </c:pt>
                <c:pt idx="2">
                  <c:v>SVM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85</c:v>
                </c:pt>
                <c:pt idx="2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0968976"/>
        <c:axId val="212437024"/>
      </c:barChart>
      <c:catAx>
        <c:axId val="210968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9A94"/>
                </a:solidFill>
                <a:latin typeface="Arial"/>
              </a:defRPr>
            </a:pPr>
            <a:endParaRPr lang="en-US"/>
          </a:p>
        </c:txPr>
        <c:crossAx val="212437024"/>
        <c:crosses val="autoZero"/>
        <c:auto val="1"/>
        <c:lblAlgn val="ctr"/>
        <c:lblOffset val="100"/>
        <c:noMultiLvlLbl val="1"/>
      </c:catAx>
      <c:valAx>
        <c:axId val="212437024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4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9A94"/>
                </a:solidFill>
                <a:latin typeface="Arial"/>
              </a:defRPr>
            </a:pPr>
            <a:endParaRPr lang="en-US"/>
          </a:p>
        </c:txPr>
        <c:crossAx val="210968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41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ACE1AF">
              <a:alpha val="28000"/>
            </a:srgbClr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A1DEDC">
              <a:alpha val="28000"/>
            </a:srgbClr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097280" cy="1097280"/>
          </a:xfrm>
          <a:prstGeom prst="ellipse">
            <a:avLst/>
          </a:prstGeom>
          <a:solidFill>
            <a:srgbClr val="C8F0ED"/>
          </a:solidFill>
          <a:ln w="12700">
            <a:solidFill>
              <a:srgbClr val="B8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🌿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28800" y="1234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kern="0" spc="400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MindEase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828800" y="22128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&amp; Psychological Support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2697480"/>
            <a:ext cx="2926080" cy="22860"/>
          </a:xfrm>
          <a:prstGeom prst="rect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852928"/>
            <a:ext cx="6583680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Moeeza Iqbal</a:t>
            </a:r>
            <a:br>
              <a:rPr lang="en-US" sz="1000" dirty="0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Manaham</a:t>
            </a:r>
            <a:r>
              <a:rPr lang="en-US" sz="1000" dirty="0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Arnan</a:t>
            </a:r>
            <a:endParaRPr lang="en-US" sz="1000" dirty="0" smtClean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Tayyaba</a:t>
            </a:r>
            <a:r>
              <a:rPr lang="en-US" sz="1000" dirty="0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 Amir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smtClean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Linear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Regression  ·  Decision Tree  ·  SVM  ·  CBT  ·  Mindfulness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28800" y="4480560"/>
            <a:ext cx="2882189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489704"/>
            <a:ext cx="28821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Deployed on Hugging Face Spaces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829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872691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872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WHY MINDEASE EXISTS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anxiety globally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54203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face a mental health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in their lifetime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🇵🇰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00600" y="254203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Pakistanis have access to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mental healthcare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32588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💙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254203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MindEase provides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free, without judgment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i="1" dirty="0" smtClean="0">
                <a:solidFill>
                  <a:schemeClr val="accent5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Main Goal:.</a:t>
            </a:r>
            <a:endParaRPr lang="en-US" sz="105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i="1" dirty="0">
                <a:solidFill>
                  <a:schemeClr val="accent5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MindEase bridges this gap — available to anyone, anytime, at zero cost</a:t>
            </a:r>
            <a:r>
              <a:rPr lang="en-US" sz="1000" i="1" dirty="0">
                <a:solidFill>
                  <a:srgbClr val="5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947318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9473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FEATURES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Ways to Use MindEase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AFFFE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89888"/>
            <a:ext cx="640080" cy="640080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0817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A44"/>
                </a:solidFill>
              </a:rPr>
              <a:t>Chat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freely — exactly how you feel.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reads your words, runs all 3 ML models,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responds with empathy + a coping exercise.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862072"/>
            <a:ext cx="146304" cy="146304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0720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Real-time stress gauge chart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255264"/>
            <a:ext cx="146304" cy="146304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200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Emotion breakdown (Anxious/Sad/Happy...)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648456"/>
            <a:ext cx="146304" cy="146304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5935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Stress timeline across messages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041648"/>
            <a:ext cx="146304" cy="146304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98678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CBT-backed personalized response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1298448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AFFFE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389888"/>
            <a:ext cx="640080" cy="640080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40817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96128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A44"/>
                </a:solidFill>
              </a:rPr>
              <a:t>Wellness Check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0328" y="19933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 psychological questions.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your complete stress profile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data visualizations.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28616" y="2862072"/>
            <a:ext cx="146304" cy="146304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280720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Stress score gauge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28616" y="3255264"/>
            <a:ext cx="146304" cy="146304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3200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Radar spider profile chart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28616" y="3648456"/>
            <a:ext cx="146304" cy="146304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35935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Category breakdown bar chart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28616" y="4041648"/>
            <a:ext cx="146304" cy="146304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98678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</a:rPr>
              <a:t>Personalized coping exercise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70832" y="2651760"/>
            <a:ext cx="402336" cy="402336"/>
          </a:xfrm>
          <a:prstGeom prst="ellipse">
            <a:avLst/>
          </a:prstGeom>
          <a:solidFill>
            <a:srgbClr val="C8EFEE"/>
          </a:solidFill>
          <a:ln w="12700">
            <a:solidFill>
              <a:srgbClr val="B8E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2651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A72"/>
                </a:solidFill>
              </a:rPr>
              <a:t>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620317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Tri-Algorithm Pipeline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389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User 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2221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or quiz answers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21992" y="190195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1DED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1298448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1389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23744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Feature 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23744" y="2221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numerical signals from text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25112" y="190195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1DED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53712" y="1298448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EDF0FF"/>
          </a:solidFill>
          <a:ln w="12700">
            <a:solidFill>
              <a:srgbClr val="B0B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3712" y="1389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6864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ML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2221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run simultaneously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28232" y="190195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1DEDC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56832" y="1298448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EF3E8"/>
          </a:solidFill>
          <a:ln w="12700">
            <a:solidFill>
              <a:srgbClr val="F0C88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56832" y="1389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💙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29984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Psychology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9984" y="2221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+ Mindfulness response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090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44"/>
                </a:solidFill>
              </a:rPr>
              <a:t>The Three Models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3493008"/>
            <a:ext cx="2724912" cy="1417320"/>
          </a:xfrm>
          <a:prstGeom prst="roundRect">
            <a:avLst>
              <a:gd name="adj" fmla="val 7742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" y="358444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DB5"/>
                </a:solidFill>
              </a:rPr>
              <a:t>📈 Linear Regression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391363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Output: Score: 0–10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" y="4151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— NumPy gradient descent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exact stress intensity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10128" y="3493008"/>
            <a:ext cx="2724912" cy="1417320"/>
          </a:xfrm>
          <a:prstGeom prst="roundRect">
            <a:avLst>
              <a:gd name="adj" fmla="val 7742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9856" y="358444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A5A"/>
                </a:solidFill>
              </a:rPr>
              <a:t>🌳 Decision Tree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19856" y="391363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Output: Low / Medium / High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19856" y="4151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path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interpretable model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08776" y="3493008"/>
            <a:ext cx="2724912" cy="1417320"/>
          </a:xfrm>
          <a:prstGeom prst="roundRect">
            <a:avLst>
              <a:gd name="adj" fmla="val 7742"/>
            </a:avLst>
          </a:prstGeom>
          <a:solidFill>
            <a:srgbClr val="EDF0FF"/>
          </a:solidFill>
          <a:ln w="12700">
            <a:solidFill>
              <a:srgbClr val="B0B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18504" y="358444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78D8"/>
                </a:solidFill>
              </a:rPr>
              <a:t>⚡ SVM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18504" y="391363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Output: Stressed / Not Stressed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18504" y="4151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for text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classifier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788566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788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FEATURE EXTRACTION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Text → Numbers: 7 Signals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120640" y="45720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30368" y="5120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9A94"/>
                </a:solidFill>
              </a:rPr>
              <a:t>Example Input: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30368" y="749808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CANT DO THIS ANYMORE!! everything feels hopeless???"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5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298448"/>
            <a:ext cx="73152" cy="475488"/>
          </a:xfrm>
          <a:prstGeom prst="rect">
            <a:avLst/>
          </a:prstGeom>
          <a:solidFill>
            <a:srgbClr val="E88080"/>
          </a:solidFill>
          <a:ln w="12700">
            <a:solidFill>
              <a:srgbClr val="E88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Negative Word Count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3898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stress indicator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90688" y="137160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E88080"/>
          </a:solidFill>
          <a:ln w="12700">
            <a:solidFill>
              <a:srgbClr val="E88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90688" y="13716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815084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1815084"/>
            <a:ext cx="73152" cy="475488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18882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Sentence Length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190652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venting = higher stress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90688" y="1888236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90688" y="188823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331720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5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331720"/>
            <a:ext cx="73152" cy="475488"/>
          </a:xfrm>
          <a:prstGeom prst="rect">
            <a:avLst/>
          </a:prstGeom>
          <a:solidFill>
            <a:srgbClr val="F0A070"/>
          </a:solidFill>
          <a:ln w="12700">
            <a:solidFill>
              <a:srgbClr val="F0A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4048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Exclamation Marks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24231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intensity signal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90688" y="2404872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0A070"/>
          </a:solidFill>
          <a:ln w="12700">
            <a:solidFill>
              <a:srgbClr val="F0A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90688" y="24048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848356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2848356"/>
            <a:ext cx="73152" cy="475488"/>
          </a:xfrm>
          <a:prstGeom prst="rect">
            <a:avLst/>
          </a:prstGeom>
          <a:solidFill>
            <a:srgbClr val="D0A0E0"/>
          </a:solidFill>
          <a:ln w="12700">
            <a:solidFill>
              <a:srgbClr val="D0A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9215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Capital Letter Ratio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29397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escalation indicator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90688" y="2921508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D0A0E0"/>
          </a:solidFill>
          <a:ln w="12700">
            <a:solidFill>
              <a:srgbClr val="D0A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90688" y="29215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0.21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364992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5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364992"/>
            <a:ext cx="73152" cy="475488"/>
          </a:xfrm>
          <a:prstGeom prst="rect">
            <a:avLst/>
          </a:prstGeom>
          <a:solidFill>
            <a:srgbClr val="A0C8F0"/>
          </a:solidFill>
          <a:ln w="12700">
            <a:solidFill>
              <a:srgbClr val="A0C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4381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Question Mark Count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345643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/ seeking help signal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90688" y="3438144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A0C8F0"/>
          </a:solidFill>
          <a:ln w="12700">
            <a:solidFill>
              <a:srgbClr val="A0C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90688" y="343814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881628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3881628"/>
            <a:ext cx="73152" cy="475488"/>
          </a:xfrm>
          <a:prstGeom prst="rect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9547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Lexical Diversity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0" y="39730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diversity = rumination pattern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90688" y="395478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790688" y="39547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0.90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4398264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F5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" y="4398264"/>
            <a:ext cx="73152" cy="475488"/>
          </a:xfrm>
          <a:prstGeom prst="rect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4714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44"/>
                </a:solidFill>
              </a:rPr>
              <a:t>Positive Word Count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44897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stress — reduces score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90688" y="4471416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90688" y="447141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A44"/>
                </a:solidFill>
              </a:rPr>
              <a:t>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LR Score: 8.4  ·  DT: HIGH STRESS  ·  SVM: STRESSED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PSYCHOLOGY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Response Engine — Real Psychology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2724912" cy="2286000"/>
          </a:xfrm>
          <a:prstGeom prst="roundRect">
            <a:avLst>
              <a:gd name="adj" fmla="val 4800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7160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44"/>
                </a:solidFill>
              </a:rPr>
              <a:t>CBT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Behavioural Therapy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459736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BFBB"/>
                </a:solidFill>
              </a:rPr>
              <a:t>Beck, 1979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21208" y="2715768"/>
            <a:ext cx="25054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negative thought patterns.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responses gently reframe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self-talk without judgment.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0128" y="1298448"/>
            <a:ext cx="2724912" cy="2286000"/>
          </a:xfrm>
          <a:prstGeom prst="roundRect">
            <a:avLst>
              <a:gd name="adj" fmla="val 4800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37160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1568" y="18745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44"/>
                </a:solidFill>
              </a:rPr>
              <a:t>MBSR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22037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Mindfulness-Based Stress Reduction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2459736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BFBB"/>
                </a:solidFill>
              </a:rPr>
              <a:t>Kabat-Zinn, 1990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19856" y="2715768"/>
            <a:ext cx="25054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Present-moment awareness.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exercises: 4-7-8, box breathing,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5-4-3-2-1 grounding technique.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1298448"/>
            <a:ext cx="2724912" cy="2286000"/>
          </a:xfrm>
          <a:prstGeom prst="roundRect">
            <a:avLst>
              <a:gd name="adj" fmla="val 4800"/>
            </a:avLst>
          </a:prstGeom>
          <a:solidFill>
            <a:srgbClr val="FEF8E8"/>
          </a:solidFill>
          <a:ln w="12700">
            <a:solidFill>
              <a:srgbClr val="F0C88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08776" y="137160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0216" y="18745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44"/>
                </a:solidFill>
              </a:rPr>
              <a:t>Positive Psychology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22037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Strength-Focused Approach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0216" y="2459736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BFBB"/>
                </a:solidFill>
              </a:rPr>
              <a:t>Seligman, 2011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18504" y="2715768"/>
            <a:ext cx="25054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inner resilience.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what users are doing right.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Affirms capacity to cope.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Response Map — What triggers what: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041648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C8F0ED"/>
          </a:solidFill>
          <a:ln w="12700">
            <a:solidFill>
              <a:srgbClr val="68B87A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1208" y="4123944"/>
            <a:ext cx="201168" cy="201168"/>
          </a:xfrm>
          <a:prstGeom prst="ellipse">
            <a:avLst/>
          </a:prstGeom>
          <a:solidFill>
            <a:srgbClr val="68B87A"/>
          </a:solidFill>
          <a:ln w="12700">
            <a:solidFill>
              <a:srgbClr val="68B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0565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Score 0–3 · Low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" y="433425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moment, gratitude practice, nature walk.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0" y="4041648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D8F5E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70048" y="4123944"/>
            <a:ext cx="201168" cy="201168"/>
          </a:xfrm>
          <a:prstGeom prst="ellipse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410565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Score 3–5 · Mild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70048" y="433425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5-4-3-2-1 grounding, strength reminder.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4041648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FEF8E8"/>
          </a:solidFill>
          <a:ln w="12700">
            <a:solidFill>
              <a:srgbClr val="F0C88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4123944"/>
            <a:ext cx="201168" cy="201168"/>
          </a:xfrm>
          <a:prstGeom prst="ellipse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410565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Score 5–7 · Medium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433425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4-7-8 breathing, box breathing, journaling prompt.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4041648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FEF0F0"/>
          </a:solidFill>
          <a:ln w="12700">
            <a:solidFill>
              <a:srgbClr val="E8C0C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67728" y="4123944"/>
            <a:ext cx="201168" cy="201168"/>
          </a:xfrm>
          <a:prstGeom prst="ellipse">
            <a:avLst/>
          </a:prstGeom>
          <a:solidFill>
            <a:srgbClr val="D0505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10565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44"/>
                </a:solidFill>
              </a:rPr>
              <a:t>Score 7–10 · High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67728" y="433425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 exercise, validation + professional referral.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452067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4520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UI / UX DESIGN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Interface Design Philosophy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5029200" cy="768096"/>
          </a:xfrm>
          <a:prstGeom prst="roundRect">
            <a:avLst>
              <a:gd name="adj" fmla="val 14286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408176"/>
            <a:ext cx="502920" cy="502920"/>
          </a:xfrm>
          <a:prstGeom prst="ellipse">
            <a:avLst/>
          </a:prstGeom>
          <a:solidFill>
            <a:srgbClr val="C8F0ED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08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1389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44"/>
                </a:solidFill>
              </a:rPr>
              <a:t>Calm, Light Palette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5568" y="16459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Seafoam green (#ACE1AF), teal (#A1DEDC), soft white (#F0FFFF) — colors clinically linked to calm and peace.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5029200" cy="768096"/>
          </a:xfrm>
          <a:prstGeom prst="roundRect">
            <a:avLst>
              <a:gd name="adj" fmla="val 14286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2267712"/>
            <a:ext cx="502920" cy="502920"/>
          </a:xfrm>
          <a:prstGeom prst="ellipse">
            <a:avLst/>
          </a:prstGeom>
          <a:solidFill>
            <a:srgbClr val="C8F0ED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2494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44"/>
                </a:solidFill>
              </a:rPr>
              <a:t>Chat-Style Interface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25054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in bubbles like real conversations. User messages on right, MindEase on left — familiar, non-clinical.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5029200" cy="768096"/>
          </a:xfrm>
          <a:prstGeom prst="roundRect">
            <a:avLst>
              <a:gd name="adj" fmla="val 14286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127248"/>
            <a:ext cx="502920" cy="502920"/>
          </a:xfrm>
          <a:prstGeom prst="ellipse">
            <a:avLst/>
          </a:prstGeom>
          <a:solidFill>
            <a:srgbClr val="C8F0ED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3108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44"/>
                </a:solidFill>
              </a:rPr>
              <a:t>Data Visualization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5568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chart, radar profile, emotion pie, stress timeline — understanding through visuals, not just words.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877056"/>
            <a:ext cx="5029200" cy="768096"/>
          </a:xfrm>
          <a:prstGeom prst="roundRect">
            <a:avLst>
              <a:gd name="adj" fmla="val 14286"/>
            </a:avLst>
          </a:prstGeom>
          <a:solidFill>
            <a:srgbClr val="FAFFFE"/>
          </a:solidFill>
          <a:ln w="12700">
            <a:solidFill>
              <a:srgbClr val="D4F0EE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" y="3986784"/>
            <a:ext cx="502920" cy="502920"/>
          </a:xfrm>
          <a:prstGeom prst="ellipse">
            <a:avLst/>
          </a:prstGeom>
          <a:solidFill>
            <a:srgbClr val="C8F0ED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🧭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568" y="39684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44"/>
                </a:solidFill>
              </a:rPr>
              <a:t>Left Sidebar Navigation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5568" y="4224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clear sections in calm tones. No clutter. Logo at top. Designed for any age group.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2984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Color Palette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1700784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ACE1AF"/>
          </a:solidFill>
          <a:ln w="12700">
            <a:solidFill>
              <a:srgbClr val="D4F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7099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44"/>
                </a:solidFill>
              </a:rPr>
              <a:t>#ACE1AF  ·  Seafoam Green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19110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9A94"/>
                </a:solidFill>
              </a:rPr>
              <a:t>Primary / Accents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267712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A1DEDC"/>
          </a:solidFill>
          <a:ln w="12700">
            <a:solidFill>
              <a:srgbClr val="D4F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2768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44"/>
                </a:solidFill>
              </a:rPr>
              <a:t>#A1DEDC  ·  Muted Teal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24780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9A94"/>
                </a:solidFill>
              </a:rPr>
              <a:t>Secondary elements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283464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C8EFEE"/>
          </a:solidFill>
          <a:ln w="12700">
            <a:solidFill>
              <a:srgbClr val="D4F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8437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44"/>
                </a:solidFill>
              </a:rPr>
              <a:t>#C8EFEE  ·  Pale Teal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30449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9A94"/>
                </a:solidFill>
              </a:rPr>
              <a:t>Backgrounds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60720" y="340156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0FFFF"/>
          </a:solidFill>
          <a:ln w="12700">
            <a:solidFill>
              <a:srgbClr val="D4F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410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44"/>
                </a:solidFill>
              </a:rPr>
              <a:t>#F0FFFF  ·  Soft White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3611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9A94"/>
                </a:solidFill>
              </a:rPr>
              <a:t>Text / Surfaces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68496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A4A44"/>
          </a:solidFill>
          <a:ln w="12700">
            <a:solidFill>
              <a:srgbClr val="D4F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9776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44"/>
                </a:solidFill>
              </a:rPr>
              <a:t>#1A4A44  ·  Deep Teal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4178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9A94"/>
                </a:solidFill>
              </a:rPr>
              <a:t>Headings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4526280"/>
            <a:ext cx="2971800" cy="411480"/>
          </a:xfrm>
          <a:prstGeom prst="roundRect">
            <a:avLst>
              <a:gd name="adj" fmla="val 26667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852160" y="457200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Hugging Face Spaces via Streamlit SDK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Tech Stack &amp; How It Runs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408176"/>
            <a:ext cx="548640" cy="548640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08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1288" y="13898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Language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1288" y="16276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85416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1208" y="2295144"/>
            <a:ext cx="548640" cy="548640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295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61288" y="2276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Interface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" y="251460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DF0FF"/>
          </a:solidFill>
          <a:ln w="12700">
            <a:solidFill>
              <a:srgbClr val="B0B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3182112"/>
            <a:ext cx="548640" cy="548640"/>
          </a:xfrm>
          <a:prstGeom prst="ellipse">
            <a:avLst/>
          </a:prstGeom>
          <a:solidFill>
            <a:srgbClr val="B0B8E8"/>
          </a:solidFill>
          <a:ln w="12700">
            <a:solidFill>
              <a:srgbClr val="B0B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82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1288" y="3163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Linear Regression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" y="34015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NumPy — From Scratch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59352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EF8E8"/>
          </a:solidFill>
          <a:ln w="12700">
            <a:solidFill>
              <a:srgbClr val="F0C88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" y="4069080"/>
            <a:ext cx="548640" cy="548640"/>
          </a:xfrm>
          <a:prstGeom prst="ellipse">
            <a:avLst/>
          </a:prstGeom>
          <a:solidFill>
            <a:srgbClr val="F0C888"/>
          </a:solidFill>
          <a:ln w="12700">
            <a:solidFill>
              <a:srgbClr val="F0C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61288" y="40507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DT + SVM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" y="42885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NumPy rule engine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298448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EF0F0"/>
          </a:solidFill>
          <a:ln w="12700">
            <a:solidFill>
              <a:srgbClr val="E8C0C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1408176"/>
            <a:ext cx="548640" cy="548640"/>
          </a:xfrm>
          <a:prstGeom prst="ellipse">
            <a:avLst/>
          </a:prstGeom>
          <a:solidFill>
            <a:srgbClr val="E8C0C0"/>
          </a:solidFill>
          <a:ln w="12700">
            <a:solidFill>
              <a:srgbClr val="E8C0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408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4688" y="13898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NLP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04688" y="16276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Regex + custom lexicon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185416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2295144"/>
            <a:ext cx="548640" cy="548640"/>
          </a:xfrm>
          <a:prstGeom prst="ellipse">
            <a:avLst/>
          </a:prstGeom>
          <a:solidFill>
            <a:srgbClr val="A1DEDC"/>
          </a:solidFill>
          <a:ln w="12700">
            <a:solidFill>
              <a:srgbClr val="A1DE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295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04688" y="2276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Charts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04688" y="251460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072384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64608" y="3182112"/>
            <a:ext cx="548640" cy="548640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182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04688" y="3163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Images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04688" y="34015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Pillow (PIL)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959352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EF3E8"/>
          </a:solidFill>
          <a:ln w="12700">
            <a:solidFill>
              <a:srgbClr val="F0B88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64608" y="4069080"/>
            <a:ext cx="548640" cy="548640"/>
          </a:xfrm>
          <a:prstGeom prst="ellipse">
            <a:avLst/>
          </a:prstGeom>
          <a:solidFill>
            <a:srgbClr val="F0B888"/>
          </a:solidFill>
          <a:ln w="12700">
            <a:solidFill>
              <a:srgbClr val="F0B8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🤗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504688" y="40507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A94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04688" y="42885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Hugging Face Spaces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56032"/>
            <a:ext cx="863194" cy="256032"/>
          </a:xfrm>
          <a:prstGeom prst="roundRect">
            <a:avLst>
              <a:gd name="adj" fmla="val 50000"/>
            </a:avLst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"/>
            <a:ext cx="863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44"/>
                </a:solidFill>
              </a:rPr>
              <a:t>RESULTS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Performance &amp; Results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2724912" cy="2011680"/>
          </a:xfrm>
          <a:prstGeom prst="roundRect">
            <a:avLst>
              <a:gd name="adj" fmla="val 5455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8988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44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9A94"/>
                </a:solidFill>
              </a:rPr>
              <a:t>R²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DB5"/>
                </a:solidFill>
              </a:rPr>
              <a:t>&gt;0.85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53288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text features and stress score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10128" y="1298448"/>
            <a:ext cx="2724912" cy="2011680"/>
          </a:xfrm>
          <a:prstGeom prst="roundRect">
            <a:avLst>
              <a:gd name="adj" fmla="val 5455"/>
            </a:avLst>
          </a:prstGeom>
          <a:solidFill>
            <a:srgbClr val="EAF5E8"/>
          </a:solidFill>
          <a:ln w="12700">
            <a:solidFill>
              <a:srgbClr val="ACE1AF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47288" y="138988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44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17190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9A94"/>
                </a:solidFill>
              </a:rPr>
              <a:t>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47288" y="195681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9A5A"/>
                </a:solidFill>
              </a:rPr>
              <a:t>82–88%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47288" y="253288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classifies 8 in 10 stress levels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724912" cy="2011680"/>
          </a:xfrm>
          <a:prstGeom prst="roundRect">
            <a:avLst>
              <a:gd name="adj" fmla="val 5455"/>
            </a:avLst>
          </a:prstGeom>
          <a:solidFill>
            <a:srgbClr val="EDF0FF"/>
          </a:solidFill>
          <a:ln w="12700">
            <a:solidFill>
              <a:srgbClr val="B0B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45936" y="138988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44"/>
                </a:solidFill>
              </a:rPr>
              <a:t>SVM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17190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9A94"/>
                </a:solidFill>
              </a:rPr>
              <a:t>F1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5936" y="195681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878D8"/>
                </a:solidFill>
              </a:rPr>
              <a:t>88–93%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45936" y="253288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text classifier — highest precision + recall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3456432"/>
          <a:ext cx="502920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577840" y="3456432"/>
            <a:ext cx="3154680" cy="1572768"/>
          </a:xfrm>
          <a:prstGeom prst="roundRect">
            <a:avLst>
              <a:gd name="adj" fmla="val 6977"/>
            </a:avLst>
          </a:prstGeom>
          <a:solidFill>
            <a:srgbClr val="EAF9F8"/>
          </a:solidFill>
          <a:ln w="12700">
            <a:solidFill>
              <a:srgbClr val="A1DE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87568" y="354787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44"/>
                </a:solidFill>
              </a:rPr>
              <a:t>🔑 Key Insight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87568" y="3858768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is unique in using ALL THREE models together — not just the most accurate one.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gives a complete picture: how intense the stress is (LR), what category it falls into (DT), and a confident binary signal (SVM).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9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8F0E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D8F5E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C8F0ED">
              <a:alpha val="35000"/>
            </a:srgbClr>
          </a:solidFill>
          <a:ln w="12700">
            <a:solidFill>
              <a:srgbClr val="C8F0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D8F5E8">
              <a:alpha val="35000"/>
            </a:srgbClr>
          </a:solidFill>
          <a:ln w="12700">
            <a:solidFill>
              <a:srgbClr val="D8F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🌿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548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300" dirty="0">
                <a:solidFill>
                  <a:srgbClr val="1A4A4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MindEase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E7A7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"Mental health matters. Technology, when designed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E7A7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 empathy and scientific rigour, can play a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E7A7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meaningful role in supporting it."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2487168"/>
            <a:ext cx="2286000" cy="22860"/>
          </a:xfrm>
          <a:prstGeom prst="rect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743200"/>
            <a:ext cx="164592" cy="164592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270662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44"/>
                </a:solidFill>
              </a:rPr>
              <a:t>3 ML algorithms running simultaneously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91640" y="3127248"/>
            <a:ext cx="164592" cy="164592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30906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44"/>
                </a:solidFill>
              </a:rPr>
              <a:t>CBT + Mindfulness + Positive Psychology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3511296"/>
            <a:ext cx="164592" cy="164592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34747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44"/>
                </a:solidFill>
              </a:rPr>
              <a:t>Real-time emotion analysis with charts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3895344"/>
            <a:ext cx="164592" cy="164592"/>
          </a:xfrm>
          <a:prstGeom prst="ellipse">
            <a:avLst/>
          </a:prstGeom>
          <a:solidFill>
            <a:srgbClr val="ACE1AF"/>
          </a:solidFill>
          <a:ln w="12700">
            <a:solidFill>
              <a:srgbClr val="ACE1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38587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44"/>
                </a:solidFill>
              </a:rPr>
              <a:t>Deployed live on Hugging Face Spaces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A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Superior University, Lahore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846</Words>
  <Application>Microsoft Office PowerPoint</Application>
  <PresentationFormat>On-screen Show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Bahnschrift</vt:lpstr>
      <vt:lpstr>Calibri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MindEase — Mental Health Chatbot</dc:title>
  <dc:subject>PptxGenJS Presentation</dc:subject>
  <dc:creator>BS Computer Science, Superior University Lahore</dc:creator>
  <cp:lastModifiedBy>master</cp:lastModifiedBy>
  <cp:revision>2</cp:revision>
  <dcterms:created xsi:type="dcterms:W3CDTF">2026-04-19T18:27:12Z</dcterms:created>
  <dcterms:modified xsi:type="dcterms:W3CDTF">2026-04-19T18:37:59Z</dcterms:modified>
</cp:coreProperties>
</file>